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FROM OIL-SPILL DETECTION → OIL-SPILL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The “surprise” layer for SIH-26143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13716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🛰️ DETECT</a:t>
            </a:r>
          </a:p>
          <a:p>
            <a:pPr algn="ctr">
              <a:defRPr sz="1100"/>
            </a:pPr>
            <a:r>
              <a:t>Satellite SAR finds a possible slick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828800"/>
            <a:ext cx="2743200" cy="13716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🤖 VERIFY</a:t>
            </a:r>
          </a:p>
          <a:p>
            <a:pPr algn="ctr">
              <a:defRPr sz="1100"/>
            </a:pPr>
            <a:r>
              <a:t>ML separates oil from look-alikes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828800"/>
            <a:ext cx="2743200" cy="13716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🚢 INVESTIGATE</a:t>
            </a:r>
          </a:p>
          <a:p>
            <a:pPr algn="ctr">
              <a:defRPr sz="1100"/>
            </a:pPr>
            <a:r>
              <a:t>AIS + time + location find candidate vessels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160520"/>
            <a:ext cx="2743200" cy="13716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🌊 RECONSTRUCT</a:t>
            </a:r>
          </a:p>
          <a:p>
            <a:pPr algn="ctr">
              <a:defRPr sz="1100"/>
            </a:pPr>
            <a:r>
              <a:t>Wind/current estimate source &amp;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160520"/>
            <a:ext cx="2743200" cy="13716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🔮 PREDICT</a:t>
            </a:r>
          </a:p>
          <a:p>
            <a:pPr algn="ctr">
              <a:defRPr sz="1100"/>
            </a:pPr>
            <a:r>
              <a:t>Forecast likely movement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514600"/>
            <a:ext cx="12344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2514600"/>
            <a:ext cx="12344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023360" y="3200400"/>
            <a:ext cx="1783080" cy="9601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29400" y="4846320"/>
            <a:ext cx="1371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OIL-SPILL INVESTIGATION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The judge should see that the real problem is evidence, not just image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01  False positives</a:t>
            </a:r>
          </a:p>
          <a:p>
            <a:pPr algn="ctr">
              <a:defRPr sz="1100"/>
            </a:pPr>
            <a:r>
              <a:t>SAR dark areas can also come from non-oil phenomena.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333756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02  Vessel attribution</a:t>
            </a:r>
          </a:p>
          <a:p>
            <a:pPr algn="ctr">
              <a:defRPr sz="1100"/>
            </a:pPr>
            <a:r>
              <a:t>A nearby vessel is not automatically the polluter.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08760"/>
            <a:ext cx="333756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03  Spill drift</a:t>
            </a:r>
          </a:p>
          <a:p>
            <a:pPr algn="ctr">
              <a:defRPr sz="1100"/>
            </a:pPr>
            <a:r>
              <a:t>Wind and currents move the slick away from its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79"/>
            <a:ext cx="333756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04  Data gaps</a:t>
            </a:r>
          </a:p>
          <a:p>
            <a:pPr algn="ctr">
              <a:defRPr sz="1100"/>
            </a:pPr>
            <a:r>
              <a:t>AIS, satellite timing, clouds and ground truth can be incomplete.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40479"/>
            <a:ext cx="333756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05  Uncertainty</a:t>
            </a:r>
          </a:p>
          <a:p>
            <a:pPr algn="ctr">
              <a:defRPr sz="1100"/>
            </a:pPr>
            <a:r>
              <a:t>A model score is not the same as confirmed pollution.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INVESTIGATION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One screen that explains WHY the system believes a spill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43891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🛰️ SATELLITE EVIDENCE</a:t>
            </a:r>
          </a:p>
          <a:p>
            <a:pPr algn="ctr">
              <a:defRPr sz="1100"/>
            </a:pPr>
            <a:r>
              <a:t>Sentinel-1 SAR</a:t>
            </a:r>
            <a:br/>
            <a:br/>
            <a:r>
              <a:t>Oil-like morphology: Strong</a:t>
            </a:r>
            <a:br/>
            <a:r>
              <a:t>VV/VH evidence: Available</a:t>
            </a:r>
            <a:br/>
            <a:r>
              <a:t>Acquisition time: recorded</a:t>
            </a:r>
            <a:br/>
            <a:br/>
            <a:r>
              <a:t>Look-alike check: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83280" cy="43891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🚢 AIS EVIDENCE</a:t>
            </a:r>
          </a:p>
          <a:p>
            <a:pPr algn="ctr">
              <a:defRPr sz="1100"/>
            </a:pPr>
            <a:r>
              <a:t>Candidate vessels: 2</a:t>
            </a:r>
            <a:br/>
            <a:br/>
            <a:r>
              <a:t>Nearest track: 2.8 km</a:t>
            </a:r>
            <a:br/>
            <a:r>
              <a:t>Time alignment: 18 min</a:t>
            </a:r>
            <a:br/>
            <a:r>
              <a:t>Course compatibility: High</a:t>
            </a:r>
            <a:br/>
            <a:br/>
            <a:r>
              <a:t>⚠️ Candidate, not proven polluter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383280" cy="43891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🌊 DRIFT + CONFIDENCE</a:t>
            </a:r>
          </a:p>
          <a:p>
            <a:pPr algn="ctr">
              <a:defRPr sz="1100"/>
            </a:pPr>
            <a:r>
              <a:t>Wind/current: available</a:t>
            </a:r>
            <a:br/>
            <a:br/>
            <a:r>
              <a:t>Estimated source area</a:t>
            </a:r>
            <a:br/>
            <a:r>
              <a:t>→ 3.2 km NW</a:t>
            </a:r>
            <a:br/>
            <a:br/>
            <a:r>
              <a:t>Predicted movement</a:t>
            </a:r>
            <a:br/>
            <a:r>
              <a:t>→ Northeast</a:t>
            </a:r>
            <a:br/>
            <a:br/>
            <a:r>
              <a:t>Overall evidence: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Instead of trusting one model, combine independent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Satellite</a:t>
            </a:r>
          </a:p>
          <a:p>
            <a:pPr algn="ctr">
              <a:defRPr sz="1100"/>
            </a:pPr>
            <a:r>
              <a:t>Possible slick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788920"/>
            <a:ext cx="274319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ML model</a:t>
            </a:r>
          </a:p>
          <a:p>
            <a:pPr algn="ctr">
              <a:defRPr sz="1100"/>
            </a:pPr>
            <a:r>
              <a:t>Oil vs look-alike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9079" y="2788920"/>
            <a:ext cx="27432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AIS</a:t>
            </a:r>
          </a:p>
          <a:p>
            <a:pPr algn="ctr">
              <a:defRPr sz="1100"/>
            </a:pPr>
            <a:r>
              <a:t>Candidate vessels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78892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Weather</a:t>
            </a:r>
          </a:p>
          <a:p>
            <a:pPr algn="ctr">
              <a:defRPr sz="1100"/>
            </a:pPr>
            <a:r>
              <a:t>Wind/current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78892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Trajectory</a:t>
            </a:r>
          </a:p>
          <a:p>
            <a:pPr algn="ctr">
              <a:defRPr sz="1100"/>
            </a:pPr>
            <a:r>
              <a:t>Source + movement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40" y="2788920"/>
            <a:ext cx="274319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1828800"/>
            <a:ext cx="1600200" cy="196596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Human review</a:t>
            </a:r>
          </a:p>
          <a:p>
            <a:pPr algn="ctr">
              <a:defRPr sz="1100"/>
            </a:pPr>
            <a:r>
              <a:t>Final investigation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617720"/>
            <a:ext cx="4251960" cy="9144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KEY OUTPUT</a:t>
            </a:r>
          </a:p>
          <a:p>
            <a:pPr algn="ctr">
              <a:defRPr sz="1100"/>
            </a:pPr>
            <a:r>
              <a:t>Evidence-backed investigation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JUDGE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proposed investigation report inside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INCIDENT: Possible oil spill • Kerala coast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Satellite: Sentinel-1 SAR → oil-like slick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Look-alike check: 8% estimated alternative probability*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6265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AIS: 2 candidate vessels within investigation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Trajectory: estimated source area 3.2 km NW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Forecast: slick movement toward 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537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Evidence status: HIGH CONFIDENCE*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8406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Next action: request field/official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*Example dashboard values only — not real measurements. Replace with model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we actually build behind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DATA INGEST</a:t>
            </a:r>
          </a:p>
          <a:p>
            <a:pPr algn="ctr">
              <a:defRPr sz="1100"/>
            </a:pPr>
            <a:r>
              <a:t>Sentinel-1 / Sentinel-2 / AIS / wind / currents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2588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PREPROCESS</a:t>
            </a:r>
          </a:p>
          <a:p>
            <a:pPr algn="ctr">
              <a:defRPr sz="1100"/>
            </a:pPr>
            <a:r>
              <a:t>Crop sea area / georeference / SAR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DETECT</a:t>
            </a:r>
          </a:p>
          <a:p>
            <a:pPr algn="ctr">
              <a:defRPr sz="1100"/>
            </a:pPr>
            <a:r>
              <a:t>Segmentation + oil/look-alike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59" y="132588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CORRELATE</a:t>
            </a:r>
          </a:p>
          <a:p>
            <a:pPr algn="ctr">
              <a:defRPr sz="1100"/>
            </a:pPr>
            <a:r>
              <a:t>AIS tracks + time-distance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6616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RECONSTRUCT</a:t>
            </a:r>
          </a:p>
          <a:p>
            <a:pPr algn="ctr">
              <a:defRPr sz="1100"/>
            </a:pPr>
            <a:r>
              <a:t>Backward/forward drift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56616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EXPLAIN</a:t>
            </a:r>
          </a:p>
          <a:p>
            <a:pPr algn="ctr">
              <a:defRPr sz="1100"/>
            </a:pPr>
            <a:r>
              <a:t>Evidence fusion + confidence +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566160"/>
            <a:ext cx="2514600" cy="160020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ALERT</a:t>
            </a:r>
          </a:p>
          <a:p>
            <a:pPr algn="ctr">
              <a:defRPr sz="1100"/>
            </a:pPr>
            <a:r>
              <a:t>Dashboard + investigation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THIS CAN SURPRISE THE JUDGES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The differentiator is the investigation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34747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NORMAL SYSTEM</a:t>
            </a:r>
          </a:p>
          <a:p>
            <a:pPr algn="ctr">
              <a:defRPr sz="1100"/>
            </a:pPr>
            <a:r>
              <a:t>“Oil detected”</a:t>
            </a:r>
            <a:br/>
            <a:br/>
            <a:r>
              <a:t>Satellite image</a:t>
            </a:r>
            <a:br/>
            <a:r>
              <a:t>Map marker</a:t>
            </a:r>
            <a:br/>
            <a:r>
              <a:t>Confidence score</a:t>
            </a:r>
            <a:br/>
            <a:r>
              <a:t>AIS overlay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246120" cy="34747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OUR SYSTEM</a:t>
            </a:r>
          </a:p>
          <a:p>
            <a:pPr algn="ctr">
              <a:defRPr sz="1100"/>
            </a:pPr>
            <a:r>
              <a:t>“Why?”</a:t>
            </a:r>
            <a:br/>
            <a:br/>
            <a:r>
              <a:t>Evidence fusion</a:t>
            </a:r>
            <a:br/>
            <a:r>
              <a:t>Candidate vessels</a:t>
            </a:r>
            <a:br/>
            <a:r>
              <a:t>Source reconstruction</a:t>
            </a:r>
            <a:br/>
            <a:r>
              <a:t>Drift prediction</a:t>
            </a:r>
            <a:br/>
            <a:r>
              <a:t>Uncertainty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3246120" cy="3474720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FINAL OUTPUT</a:t>
            </a:r>
          </a:p>
          <a:p>
            <a:pPr algn="ctr">
              <a:defRPr sz="1100"/>
            </a:pPr>
            <a:r>
              <a:t>Investigation report</a:t>
            </a:r>
            <a:br/>
            <a:br/>
            <a:r>
              <a:t>What happened?</a:t>
            </a:r>
            <a:br/>
            <a:r>
              <a:t>Where did it start?</a:t>
            </a:r>
            <a:br/>
            <a:r>
              <a:t>Who are the candidates?</a:t>
            </a:r>
            <a:br/>
            <a:r>
              <a:t>Where is it going?</a:t>
            </a:r>
            <a:br/>
            <a:r>
              <a:t>What evidence supports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DON’T JUST DETECT THE SPILL.  INVESTIGATE THE SPILL.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SIH26143 • Concept for Oil Spill Investigation &amp; Evidence 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STARTING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EMSA — How SAR oil-spill detection works: https://www.emsa.europa.eu/earth-observation-products/how-does-sar-detection-work.html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391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Copernicus Data Space — Sentinel-1: https://dataspace.copernicus.eu/data-collections/copernicus-sentinel-missions/sentinel-1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52344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Zenodo — Sentinel-1 Oil Spill Dataset Part I: https://zenodo.org/records/8346860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6557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Zenodo — Sentinel-1 Oil Spill Dataset Part II: https://zenodo.org/records/8253899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7880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Zenodo — Sentinel-1 Oil Spill Dataset Part III: https://zenodo.org/records/13761290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MarineCadastre AIS: https://marinecadastre.gov/accessais/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Sources are for project research; validate live data and incident-specific facts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